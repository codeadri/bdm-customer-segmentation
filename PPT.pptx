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94" r:id="rId2"/>
  </p:sldMasterIdLst>
  <p:notesMasterIdLst>
    <p:notesMasterId r:id="rId13"/>
  </p:notesMasterIdLst>
  <p:sldIdLst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2F2F2"/>
    <a:srgbClr val="1C7293"/>
    <a:srgbClr val="065A82"/>
    <a:srgbClr val="02C39A"/>
    <a:srgbClr val="FFF8E1"/>
    <a:srgbClr val="4A4E68"/>
    <a:srgbClr val="FFFFFF"/>
    <a:srgbClr val="2E74B4"/>
    <a:srgbClr val="02C2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Percentage</c:v>
                </c:pt>
              </c:strCache>
            </c:strRef>
          </c:tx>
          <c:dPt>
            <c:idx val="0"/>
            <c:bubble3D val="0"/>
            <c:spPr>
              <a:solidFill>
                <a:srgbClr val="00206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0AE-480B-B6E5-5A07B62A7BA5}"/>
              </c:ext>
            </c:extLst>
          </c:dPt>
          <c:dPt>
            <c:idx val="1"/>
            <c:bubble3D val="0"/>
            <c:spPr>
              <a:solidFill>
                <a:srgbClr val="2E74B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60AE-480B-B6E5-5A07B62A7BA5}"/>
              </c:ext>
            </c:extLst>
          </c:dPt>
          <c:dPt>
            <c:idx val="2"/>
            <c:bubble3D val="0"/>
            <c:spPr>
              <a:solidFill>
                <a:srgbClr val="02C299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0AE-480B-B6E5-5A07B62A7BA5}"/>
              </c:ext>
            </c:extLst>
          </c:dPt>
          <c:dPt>
            <c:idx val="3"/>
            <c:bubble3D val="0"/>
            <c:spPr>
              <a:solidFill>
                <a:srgbClr val="CCFFCC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60AE-480B-B6E5-5A07B62A7BA5}"/>
              </c:ext>
            </c:extLst>
          </c:dPt>
          <c:dLbls>
            <c:dLbl>
              <c:idx val="0"/>
              <c:layout>
                <c:manualLayout>
                  <c:x val="-8.5382163522725568E-2"/>
                  <c:y val="-0.3324601548237754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AE-480B-B6E5-5A07B62A7BA5}"/>
                </c:ext>
              </c:extLst>
            </c:dLbl>
            <c:dLbl>
              <c:idx val="3"/>
              <c:layout>
                <c:manualLayout>
                  <c:x val="8.6154303463940332E-2"/>
                  <c:y val="0.1892327864086084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0AE-480B-B6E5-5A07B62A7B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United Kingdom</c:v>
                </c:pt>
                <c:pt idx="1">
                  <c:v>Netherlands</c:v>
                </c:pt>
                <c:pt idx="2">
                  <c:v>EIRE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81.972020000000001</c:v>
                </c:pt>
                <c:pt idx="1">
                  <c:v>3.211878</c:v>
                </c:pt>
                <c:pt idx="2">
                  <c:v>2.9847670000000002</c:v>
                </c:pt>
                <c:pt idx="3">
                  <c:v>11.831334999999999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E-480B-B6E5-5A07B62A7BA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DFBAA-C8CC-4B37-ADC3-B395D46B4CA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829FE-0A6D-4D69-B195-442EECC2C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16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42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882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77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211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74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175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4656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1932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6432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0355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454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672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88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1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72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352/online+retai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link.springer.com/article/10.1057/dbm.2012.1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028" y="1679502"/>
            <a:ext cx="11197885" cy="2241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dirty="0">
                <a:solidFill>
                  <a:srgbClr val="66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Marketing Efficiency Through Customer Segmentation for a </a:t>
            </a:r>
          </a:p>
          <a:p>
            <a:pPr algn="ctr" defTabSz="1219170"/>
            <a:r>
              <a:rPr lang="en-US" sz="4800" b="1" dirty="0">
                <a:solidFill>
                  <a:srgbClr val="66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Online Retailer</a:t>
            </a:r>
            <a:endParaRPr lang="en-US" sz="4800" dirty="0">
              <a:solidFill>
                <a:srgbClr val="66FFCC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4570" y="4156928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Adrija Sarkar
</a:t>
            </a:r>
            <a:r>
              <a:rPr lang="en-US" sz="1867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23f2005006
BDM Capstone Project
IIT Madras Online BS Degree Program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01193-F908-0C23-33F4-BFF66F612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0266" y1="34123" x2="50266" y2="34123"/>
                        <a14:foregroundMark x1="47957" y1="53318" x2="47780" y2="40284"/>
                        <a14:foregroundMark x1="47780" y1="40284" x2="53108" y2="54502"/>
                        <a14:foregroundMark x1="53108" y1="54502" x2="53108" y2="54739"/>
                        <a14:foregroundMark x1="41385" y1="54028" x2="50799" y2="53555"/>
                        <a14:foregroundMark x1="50799" y1="53555" x2="30551" y2="52844"/>
                        <a14:foregroundMark x1="30551" y1="52844" x2="28419" y2="507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38"/>
            <a:ext cx="1503997" cy="1127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834" y="67523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Background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62400" y="1798320"/>
            <a:ext cx="48768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5D2BF9-3841-BF95-3393-2D4C90C233CD}"/>
              </a:ext>
            </a:extLst>
          </p:cNvPr>
          <p:cNvSpPr txBox="1"/>
          <p:nvPr/>
        </p:nvSpPr>
        <p:spPr>
          <a:xfrm>
            <a:off x="733486" y="5439467"/>
            <a:ext cx="9924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Sources: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UCI Machine Learning Repository: </a:t>
            </a:r>
            <a:r>
              <a:rPr lang="en-IN" dirty="0">
                <a:hlinkClick r:id="rId3"/>
              </a:rPr>
              <a:t>https://archive.ics.uci.edu/dataset/352/online+retail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hlinkClick r:id="rId4"/>
              </a:rPr>
              <a:t>https://link.springer.com/article/10.1057/dbm.2012.17</a:t>
            </a:r>
            <a:endParaRPr lang="en-IN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D4D03D6-9605-79C5-1333-75A0C4208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111912"/>
              </p:ext>
            </p:extLst>
          </p:nvPr>
        </p:nvGraphicFramePr>
        <p:xfrm>
          <a:off x="733486" y="1892095"/>
          <a:ext cx="7433187" cy="30085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576">
                  <a:extLst>
                    <a:ext uri="{9D8B030D-6E8A-4147-A177-3AD203B41FA5}">
                      <a16:colId xmlns:a16="http://schemas.microsoft.com/office/drawing/2014/main" val="127091323"/>
                    </a:ext>
                  </a:extLst>
                </a:gridCol>
                <a:gridCol w="5774611">
                  <a:extLst>
                    <a:ext uri="{9D8B030D-6E8A-4147-A177-3AD203B41FA5}">
                      <a16:colId xmlns:a16="http://schemas.microsoft.com/office/drawing/2014/main" val="2837376232"/>
                    </a:ext>
                  </a:extLst>
                </a:gridCol>
              </a:tblGrid>
              <a:tr h="452639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Unique all-occasion gifts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61271"/>
                  </a:ext>
                </a:extLst>
              </a:tr>
              <a:tr h="452639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Established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1981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205256"/>
                  </a:ext>
                </a:extLst>
              </a:tr>
              <a:tr h="814750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Venture into E-commerce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2010 (Own website +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Amazon.co.uk) 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362670"/>
                  </a:ext>
                </a:extLst>
              </a:tr>
              <a:tr h="452639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B2B+B2C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13747"/>
                  </a:ext>
                </a:extLst>
              </a:tr>
              <a:tr h="835922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period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01/12/2010 to 09/12/2011</a:t>
                      </a:r>
                    </a:p>
                  </a:txBody>
                  <a:tcP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591412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5ADC49E6-BD95-FAD9-CFD3-71CB7D6AB1E8}"/>
              </a:ext>
            </a:extLst>
          </p:cNvPr>
          <p:cNvGrpSpPr/>
          <p:nvPr/>
        </p:nvGrpSpPr>
        <p:grpSpPr>
          <a:xfrm>
            <a:off x="8499988" y="2116393"/>
            <a:ext cx="3259394" cy="2625213"/>
            <a:chOff x="5029200" y="1371600"/>
            <a:chExt cx="3657600" cy="2743200"/>
          </a:xfrm>
          <a:solidFill>
            <a:srgbClr val="002060"/>
          </a:solidFill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1B9C3D6B-F5D3-3583-ECB8-5048985DD4B2}"/>
                </a:ext>
              </a:extLst>
            </p:cNvPr>
            <p:cNvSpPr/>
            <p:nvPr/>
          </p:nvSpPr>
          <p:spPr>
            <a:xfrm>
              <a:off x="5029200" y="1371600"/>
              <a:ext cx="3657600" cy="2743200"/>
            </a:xfrm>
            <a:prstGeom prst="roundRect">
              <a:avLst/>
            </a:prstGeom>
            <a:grpFill/>
            <a:ln w="25400">
              <a:solidFill>
                <a:srgbClr val="1C7293"/>
              </a:solidFill>
              <a:prstDash val="solid"/>
            </a:ln>
          </p:spPr>
        </p:sp>
        <p:sp>
          <p:nvSpPr>
            <p:cNvPr id="30" name="Text 3">
              <a:extLst>
                <a:ext uri="{FF2B5EF4-FFF2-40B4-BE49-F238E27FC236}">
                  <a16:creationId xmlns:a16="http://schemas.microsoft.com/office/drawing/2014/main" id="{0C49FEB9-D8FA-5E98-DAF6-3060B96909EE}"/>
                </a:ext>
              </a:extLst>
            </p:cNvPr>
            <p:cNvSpPr/>
            <p:nvPr/>
          </p:nvSpPr>
          <p:spPr>
            <a:xfrm>
              <a:off x="5029200" y="2103120"/>
              <a:ext cx="3657600" cy="1371600"/>
            </a:xfrm>
            <a:prstGeom prst="round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UK BASED ONLINE</a:t>
              </a:r>
              <a:endParaRPr lang="en-US" sz="3200" dirty="0"/>
            </a:p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RETAILER</a:t>
              </a:r>
              <a:endParaRPr lang="en-US" sz="3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1569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E90CF-0B8F-F9C7-06B9-B370FF5C1BDE}"/>
              </a:ext>
            </a:extLst>
          </p:cNvPr>
          <p:cNvGrpSpPr/>
          <p:nvPr/>
        </p:nvGrpSpPr>
        <p:grpSpPr>
          <a:xfrm>
            <a:off x="609600" y="1584960"/>
            <a:ext cx="10972800" cy="1341120"/>
            <a:chOff x="609600" y="1828800"/>
            <a:chExt cx="10972800" cy="1341120"/>
          </a:xfrm>
        </p:grpSpPr>
        <p:sp>
          <p:nvSpPr>
            <p:cNvPr id="4" name="Shape 2"/>
            <p:cNvSpPr/>
            <p:nvPr/>
          </p:nvSpPr>
          <p:spPr>
            <a:xfrm>
              <a:off x="609600" y="1828800"/>
              <a:ext cx="10972800" cy="1341120"/>
            </a:xfrm>
            <a:prstGeom prst="roundRect">
              <a:avLst/>
            </a:prstGeom>
            <a:solidFill>
              <a:srgbClr val="002060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853440" y="2194560"/>
              <a:ext cx="609600" cy="609600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53440" y="2194560"/>
              <a:ext cx="60960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706880" y="2011680"/>
              <a:ext cx="96316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Lack of Targeted Segmentation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706880" y="2462784"/>
              <a:ext cx="963168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customers treated uniformly without distinguishing high-value from low-engagement buyers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D11FA0-C7D3-33BF-A981-1890A21A446B}"/>
              </a:ext>
            </a:extLst>
          </p:cNvPr>
          <p:cNvGrpSpPr/>
          <p:nvPr/>
        </p:nvGrpSpPr>
        <p:grpSpPr>
          <a:xfrm>
            <a:off x="609600" y="3127249"/>
            <a:ext cx="10972800" cy="1341120"/>
            <a:chOff x="609600" y="3413760"/>
            <a:chExt cx="10972800" cy="1341120"/>
          </a:xfrm>
        </p:grpSpPr>
        <p:sp>
          <p:nvSpPr>
            <p:cNvPr id="9" name="Shape 7"/>
            <p:cNvSpPr/>
            <p:nvPr/>
          </p:nvSpPr>
          <p:spPr>
            <a:xfrm>
              <a:off x="609600" y="3413760"/>
              <a:ext cx="10972800" cy="1341120"/>
            </a:xfrm>
            <a:prstGeom prst="roundRect">
              <a:avLst/>
            </a:prstGeom>
            <a:solidFill>
              <a:srgbClr val="1C7293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853440" y="3779520"/>
              <a:ext cx="609600" cy="609600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853440" y="3779520"/>
              <a:ext cx="60960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706880" y="3596640"/>
              <a:ext cx="96316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Inefficient Marketing Spend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706880" y="4047744"/>
              <a:ext cx="963168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Promotional efforts distributed evenly, reducing potential returns and limiting revenue growth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06829F-9D5E-0540-DCA2-270A5FA4544C}"/>
              </a:ext>
            </a:extLst>
          </p:cNvPr>
          <p:cNvGrpSpPr/>
          <p:nvPr/>
        </p:nvGrpSpPr>
        <p:grpSpPr>
          <a:xfrm>
            <a:off x="609600" y="4651249"/>
            <a:ext cx="10972800" cy="1341120"/>
            <a:chOff x="609600" y="4998720"/>
            <a:chExt cx="10972800" cy="1341120"/>
          </a:xfrm>
        </p:grpSpPr>
        <p:sp>
          <p:nvSpPr>
            <p:cNvPr id="14" name="Shape 12"/>
            <p:cNvSpPr/>
            <p:nvPr/>
          </p:nvSpPr>
          <p:spPr>
            <a:xfrm>
              <a:off x="609600" y="4998720"/>
              <a:ext cx="10972800" cy="1341120"/>
            </a:xfrm>
            <a:prstGeom prst="roundRect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53440" y="5364480"/>
              <a:ext cx="609600" cy="6096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53440" y="5364480"/>
              <a:ext cx="60960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706880" y="5181600"/>
              <a:ext cx="96316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Data-Driven Strategy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706880" y="5632704"/>
              <a:ext cx="9631680" cy="6096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Missing structured analysis of purchase patterns, spending, and recency to </a:t>
              </a:r>
              <a:r>
                <a:rPr lang="en-US" sz="1733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prioritise</a:t>
              </a:r>
              <a:r>
                <a:rPr lang="en-US" sz="17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key customer groups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49E28DB-22F7-D14D-678A-A7828E6FF4AA}"/>
              </a:ext>
            </a:extLst>
          </p:cNvPr>
          <p:cNvSpPr txBox="1"/>
          <p:nvPr/>
        </p:nvSpPr>
        <p:spPr>
          <a:xfrm>
            <a:off x="3144356" y="6175249"/>
            <a:ext cx="543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Marketing inefficiency and lost revenue potential</a:t>
            </a:r>
            <a:endParaRPr lang="en-IN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8531" y="1497697"/>
            <a:ext cx="6015056" cy="2318494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02C39A"/>
            </a:solidFill>
          </a:ln>
        </p:spPr>
        <p:txBody>
          <a:bodyPr wrap="square" rtlCol="0" anchor="ctr"/>
          <a:lstStyle/>
          <a:p>
            <a:pPr marL="342900" indent="-342900" defTabSz="1219170">
              <a:buFont typeface="Wingdings" panose="05000000000000000000" pitchFamily="2" charset="2"/>
              <a:buChar char="q"/>
            </a:pPr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Initial records: 541,909 instances
No. of initial Variables: 9</a:t>
            </a:r>
          </a:p>
          <a:p>
            <a:pPr marL="342900" indent="-342900" defTabSz="1219170">
              <a:buFont typeface="Wingdings" panose="05000000000000000000" pitchFamily="2" charset="2"/>
              <a:buChar char="q"/>
            </a:pPr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InvoiceNo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StockCode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Description, Quantity,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InvoiceTime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Country,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defTabSz="1219170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InvoiceDateTime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Revenue</a:t>
            </a:r>
            <a:endParaRPr lang="en-US" sz="1867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015157-2BC5-1AC3-571C-F84EFBDAAD08}"/>
              </a:ext>
            </a:extLst>
          </p:cNvPr>
          <p:cNvGrpSpPr/>
          <p:nvPr/>
        </p:nvGrpSpPr>
        <p:grpSpPr>
          <a:xfrm>
            <a:off x="7305369" y="1497697"/>
            <a:ext cx="4277031" cy="4360984"/>
            <a:chOff x="6339840" y="1706880"/>
            <a:chExt cx="5242560" cy="4360984"/>
          </a:xfrm>
        </p:grpSpPr>
        <p:sp>
          <p:nvSpPr>
            <p:cNvPr id="6" name="Shape 4"/>
            <p:cNvSpPr/>
            <p:nvPr/>
          </p:nvSpPr>
          <p:spPr>
            <a:xfrm>
              <a:off x="6339840" y="1706880"/>
              <a:ext cx="5242560" cy="4360984"/>
            </a:xfrm>
            <a:prstGeom prst="roundRect">
              <a:avLst/>
            </a:prstGeom>
            <a:solidFill>
              <a:srgbClr val="065A82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6339840" y="1950720"/>
              <a:ext cx="5242560" cy="48768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Final Clean Dataset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6583680" y="2682240"/>
              <a:ext cx="47548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02C39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392,692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583680" y="3072384"/>
              <a:ext cx="4754880" cy="3048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F2F2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 Transactions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583680" y="3474720"/>
              <a:ext cx="47548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02C39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4,338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583680" y="3864864"/>
              <a:ext cx="4754880" cy="3048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F2F2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Customers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583680" y="4267200"/>
              <a:ext cx="47548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02C39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£8.89M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0" y="4657344"/>
              <a:ext cx="4754880" cy="3048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F2F2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Revenue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583680" y="5059680"/>
              <a:ext cx="4754880" cy="42672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02C39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£479.56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583680" y="5449824"/>
              <a:ext cx="4754880" cy="304800"/>
            </a:xfrm>
            <a:prstGeom prst="round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F2F2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Order Value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7737CF-F7D4-E9A8-6585-3BCD5609EE10}"/>
              </a:ext>
            </a:extLst>
          </p:cNvPr>
          <p:cNvSpPr txBox="1"/>
          <p:nvPr/>
        </p:nvSpPr>
        <p:spPr>
          <a:xfrm>
            <a:off x="808531" y="4134064"/>
            <a:ext cx="6015056" cy="1940957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02C39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Variable Structure: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Numerical:</a:t>
            </a:r>
            <a:r>
              <a:rPr lang="en-US" dirty="0"/>
              <a:t> Quantity, </a:t>
            </a:r>
            <a:r>
              <a:rPr lang="en-US" dirty="0" err="1"/>
              <a:t>UnitPrice</a:t>
            </a:r>
            <a:r>
              <a:rPr lang="en-US" dirty="0"/>
              <a:t>, Revenue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Categorical:</a:t>
            </a:r>
            <a:r>
              <a:rPr lang="en-US" dirty="0"/>
              <a:t> </a:t>
            </a:r>
            <a:r>
              <a:rPr lang="en-US" dirty="0" err="1"/>
              <a:t>CustomerID</a:t>
            </a:r>
            <a:r>
              <a:rPr lang="en-US" dirty="0"/>
              <a:t>, </a:t>
            </a:r>
            <a:r>
              <a:rPr lang="en-US" dirty="0" err="1"/>
              <a:t>Invoiceno</a:t>
            </a:r>
            <a:r>
              <a:rPr lang="en-US" dirty="0"/>
              <a:t>, </a:t>
            </a:r>
            <a:r>
              <a:rPr lang="en-US" dirty="0" err="1"/>
              <a:t>StockCode</a:t>
            </a:r>
            <a:r>
              <a:rPr lang="en-US" dirty="0"/>
              <a:t>, Country, Description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Temporal: </a:t>
            </a:r>
            <a:r>
              <a:rPr lang="en-US" dirty="0" err="1"/>
              <a:t>InvoiceDate</a:t>
            </a:r>
            <a:r>
              <a:rPr lang="en-US" dirty="0"/>
              <a:t>, </a:t>
            </a:r>
            <a:r>
              <a:rPr lang="en-US" dirty="0" err="1"/>
              <a:t>InvoiceTime</a:t>
            </a:r>
            <a:r>
              <a:rPr lang="en-US" dirty="0"/>
              <a:t>, </a:t>
            </a:r>
            <a:r>
              <a:rPr lang="en-US" dirty="0" err="1"/>
              <a:t>InvoiceDateTime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0FE5798-25BF-2C87-AC33-094244FA5323}"/>
              </a:ext>
            </a:extLst>
          </p:cNvPr>
          <p:cNvGrpSpPr/>
          <p:nvPr/>
        </p:nvGrpSpPr>
        <p:grpSpPr>
          <a:xfrm>
            <a:off x="316492" y="1847104"/>
            <a:ext cx="11467469" cy="3681287"/>
            <a:chOff x="555035" y="1795976"/>
            <a:chExt cx="11400498" cy="3145745"/>
          </a:xfrm>
        </p:grpSpPr>
        <p:sp>
          <p:nvSpPr>
            <p:cNvPr id="6" name="Text 4"/>
            <p:cNvSpPr/>
            <p:nvPr/>
          </p:nvSpPr>
          <p:spPr>
            <a:xfrm>
              <a:off x="555035" y="2033866"/>
              <a:ext cx="609600" cy="609601"/>
            </a:xfrm>
            <a:prstGeom prst="ellipse">
              <a:avLst/>
            </a:prstGeom>
            <a:solidFill>
              <a:srgbClr val="002060"/>
            </a:solidFill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1EA4367-6E02-02B7-D231-4E9EE112D74F}"/>
                </a:ext>
              </a:extLst>
            </p:cNvPr>
            <p:cNvGrpSpPr/>
            <p:nvPr/>
          </p:nvGrpSpPr>
          <p:grpSpPr>
            <a:xfrm>
              <a:off x="1226085" y="1795976"/>
              <a:ext cx="1508858" cy="1097280"/>
              <a:chOff x="502920" y="1790649"/>
              <a:chExt cx="1508858" cy="109728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548738" y="1790649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502920" y="1854759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Integration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621921" y="2339289"/>
                <a:ext cx="1131137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Merged Excel + UCI data to get complete variables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4AD1EC3-333D-0B9E-483A-E7C848D711D6}"/>
                </a:ext>
              </a:extLst>
            </p:cNvPr>
            <p:cNvGrpSpPr/>
            <p:nvPr/>
          </p:nvGrpSpPr>
          <p:grpSpPr>
            <a:xfrm>
              <a:off x="3619747" y="2060448"/>
              <a:ext cx="609600" cy="609600"/>
              <a:chOff x="2560320" y="1950720"/>
              <a:chExt cx="609600" cy="609600"/>
            </a:xfrm>
            <a:solidFill>
              <a:srgbClr val="002060"/>
            </a:solidFill>
          </p:grpSpPr>
          <p:sp>
            <p:nvSpPr>
              <p:cNvPr id="10" name="Shape 8"/>
              <p:cNvSpPr/>
              <p:nvPr/>
            </p:nvSpPr>
            <p:spPr>
              <a:xfrm>
                <a:off x="2560320" y="1950720"/>
                <a:ext cx="609600" cy="609600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11" name="Text 9"/>
              <p:cNvSpPr/>
              <p:nvPr/>
            </p:nvSpPr>
            <p:spPr>
              <a:xfrm>
                <a:off x="2560320" y="1950720"/>
                <a:ext cx="609600" cy="609600"/>
              </a:xfrm>
              <a:prstGeom prst="ellipse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2DAAF25-370A-B570-D763-68F9072C3A2C}"/>
                </a:ext>
              </a:extLst>
            </p:cNvPr>
            <p:cNvGrpSpPr/>
            <p:nvPr/>
          </p:nvGrpSpPr>
          <p:grpSpPr>
            <a:xfrm>
              <a:off x="4320787" y="1816608"/>
              <a:ext cx="1463040" cy="1097280"/>
              <a:chOff x="2113444" y="1819755"/>
              <a:chExt cx="1463040" cy="109728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2113444" y="1819755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2190627" y="1959963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Timestamp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2194560" y="2368395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Created InvoiceDateTime from date + time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47F2820-A43F-5AA1-B035-DB1E80FE328C}"/>
                </a:ext>
              </a:extLst>
            </p:cNvPr>
            <p:cNvGrpSpPr/>
            <p:nvPr/>
          </p:nvGrpSpPr>
          <p:grpSpPr>
            <a:xfrm>
              <a:off x="6735590" y="2101540"/>
              <a:ext cx="609600" cy="609600"/>
              <a:chOff x="4206240" y="1950720"/>
              <a:chExt cx="609600" cy="609600"/>
            </a:xfrm>
            <a:solidFill>
              <a:srgbClr val="002060"/>
            </a:solidFill>
          </p:grpSpPr>
          <p:sp>
            <p:nvSpPr>
              <p:cNvPr id="15" name="Shape 13"/>
              <p:cNvSpPr/>
              <p:nvPr/>
            </p:nvSpPr>
            <p:spPr>
              <a:xfrm>
                <a:off x="4206240" y="1950720"/>
                <a:ext cx="609600" cy="609600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16" name="Text 14"/>
              <p:cNvSpPr/>
              <p:nvPr/>
            </p:nvSpPr>
            <p:spPr>
              <a:xfrm>
                <a:off x="4206240" y="1950720"/>
                <a:ext cx="609600" cy="609600"/>
              </a:xfrm>
              <a:prstGeom prst="ellipse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95A1B3E-8C3B-59FB-6B35-49DD6CD06C5E}"/>
                </a:ext>
              </a:extLst>
            </p:cNvPr>
            <p:cNvGrpSpPr/>
            <p:nvPr/>
          </p:nvGrpSpPr>
          <p:grpSpPr>
            <a:xfrm>
              <a:off x="7406640" y="1795976"/>
              <a:ext cx="1463040" cy="1097280"/>
              <a:chOff x="3779520" y="1828800"/>
              <a:chExt cx="1463040" cy="109728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3779520" y="1828800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3840480" y="1987296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Removed Cancellations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840480" y="2450592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Dropped invoices starting with 'C'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C0C0135-A10C-D5F2-82A9-C6E297C3C2C2}"/>
                </a:ext>
              </a:extLst>
            </p:cNvPr>
            <p:cNvGrpSpPr/>
            <p:nvPr/>
          </p:nvGrpSpPr>
          <p:grpSpPr>
            <a:xfrm>
              <a:off x="9811609" y="2048256"/>
              <a:ext cx="609600" cy="609600"/>
              <a:chOff x="5852160" y="1950720"/>
              <a:chExt cx="609600" cy="609600"/>
            </a:xfrm>
            <a:solidFill>
              <a:srgbClr val="002060"/>
            </a:solidFill>
          </p:grpSpPr>
          <p:sp>
            <p:nvSpPr>
              <p:cNvPr id="20" name="Shape 18"/>
              <p:cNvSpPr/>
              <p:nvPr/>
            </p:nvSpPr>
            <p:spPr>
              <a:xfrm>
                <a:off x="5852160" y="1950720"/>
                <a:ext cx="609600" cy="609600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21" name="Text 19"/>
              <p:cNvSpPr/>
              <p:nvPr/>
            </p:nvSpPr>
            <p:spPr>
              <a:xfrm>
                <a:off x="5852160" y="1950720"/>
                <a:ext cx="609600" cy="609600"/>
              </a:xfrm>
              <a:prstGeom prst="ellipse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2063E4C-D449-FCC4-EFB2-D715D1646A1E}"/>
                </a:ext>
              </a:extLst>
            </p:cNvPr>
            <p:cNvGrpSpPr/>
            <p:nvPr/>
          </p:nvGrpSpPr>
          <p:grpSpPr>
            <a:xfrm>
              <a:off x="10492493" y="1819082"/>
              <a:ext cx="1463040" cy="1097280"/>
              <a:chOff x="6959272" y="4781230"/>
              <a:chExt cx="1463040" cy="1097280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6959272" y="4781230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7020232" y="4965783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Invalid Data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7020232" y="5340096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Filtered zero/negative quantities &amp; prices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9C9BD32-6150-2BB0-3680-3F361AAF8E20}"/>
                </a:ext>
              </a:extLst>
            </p:cNvPr>
            <p:cNvGrpSpPr/>
            <p:nvPr/>
          </p:nvGrpSpPr>
          <p:grpSpPr>
            <a:xfrm>
              <a:off x="9811609" y="4004286"/>
              <a:ext cx="609600" cy="609600"/>
              <a:chOff x="914400" y="3230880"/>
              <a:chExt cx="609600" cy="609600"/>
            </a:xfrm>
            <a:solidFill>
              <a:srgbClr val="002060"/>
            </a:solidFill>
          </p:grpSpPr>
          <p:sp>
            <p:nvSpPr>
              <p:cNvPr id="25" name="Shape 23"/>
              <p:cNvSpPr/>
              <p:nvPr/>
            </p:nvSpPr>
            <p:spPr>
              <a:xfrm>
                <a:off x="914400" y="3230880"/>
                <a:ext cx="609600" cy="609600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26" name="Text 24"/>
              <p:cNvSpPr/>
              <p:nvPr/>
            </p:nvSpPr>
            <p:spPr>
              <a:xfrm>
                <a:off x="914400" y="3230880"/>
                <a:ext cx="609600" cy="609600"/>
              </a:xfrm>
              <a:prstGeom prst="ellipse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E41A8B6-9344-6C52-0E99-ACC9BAFC167A}"/>
                </a:ext>
              </a:extLst>
            </p:cNvPr>
            <p:cNvGrpSpPr/>
            <p:nvPr/>
          </p:nvGrpSpPr>
          <p:grpSpPr>
            <a:xfrm>
              <a:off x="10492493" y="3816293"/>
              <a:ext cx="1463040" cy="1097280"/>
              <a:chOff x="487680" y="3108960"/>
              <a:chExt cx="1463040" cy="1097280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487680" y="3108960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27" name="Text 25"/>
              <p:cNvSpPr/>
              <p:nvPr/>
            </p:nvSpPr>
            <p:spPr>
              <a:xfrm>
                <a:off x="528484" y="3272864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Missing IDs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548640" y="3647178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Removed records with null CustomerID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E25EA14-46C5-A7D1-D4CC-63505D8D1529}"/>
                </a:ext>
              </a:extLst>
            </p:cNvPr>
            <p:cNvGrpSpPr/>
            <p:nvPr/>
          </p:nvGrpSpPr>
          <p:grpSpPr>
            <a:xfrm>
              <a:off x="6753290" y="4003892"/>
              <a:ext cx="609600" cy="609600"/>
              <a:chOff x="2560320" y="3230880"/>
              <a:chExt cx="609600" cy="609600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2560320" y="3230880"/>
                <a:ext cx="609600" cy="609600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31" name="Text 29"/>
              <p:cNvSpPr/>
              <p:nvPr/>
            </p:nvSpPr>
            <p:spPr>
              <a:xfrm>
                <a:off x="2560320" y="3230880"/>
                <a:ext cx="609600" cy="609600"/>
              </a:xfrm>
              <a:prstGeom prst="ellipse">
                <a:avLst/>
              </a:prstGeom>
              <a:solidFill>
                <a:srgbClr val="002060"/>
              </a:solidFill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6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23203B4-B346-0104-8FC1-BAF0BF244336}"/>
                </a:ext>
              </a:extLst>
            </p:cNvPr>
            <p:cNvGrpSpPr/>
            <p:nvPr/>
          </p:nvGrpSpPr>
          <p:grpSpPr>
            <a:xfrm>
              <a:off x="7398287" y="3816293"/>
              <a:ext cx="1463040" cy="1097280"/>
              <a:chOff x="2129667" y="3346613"/>
              <a:chExt cx="1463040" cy="109728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2129667" y="3346613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32" name="Text 30"/>
              <p:cNvSpPr/>
              <p:nvPr/>
            </p:nvSpPr>
            <p:spPr>
              <a:xfrm>
                <a:off x="2174404" y="3481262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Duplicates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2194560" y="3848451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Eliminated exact duplicate records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4FD1D89-0C96-6FD3-53CF-24965891307A}"/>
                </a:ext>
              </a:extLst>
            </p:cNvPr>
            <p:cNvGrpSpPr/>
            <p:nvPr/>
          </p:nvGrpSpPr>
          <p:grpSpPr>
            <a:xfrm>
              <a:off x="3618029" y="3980196"/>
              <a:ext cx="609600" cy="609600"/>
              <a:chOff x="4206240" y="3230880"/>
              <a:chExt cx="609600" cy="609600"/>
            </a:xfrm>
            <a:solidFill>
              <a:srgbClr val="002060"/>
            </a:solidFill>
          </p:grpSpPr>
          <p:sp>
            <p:nvSpPr>
              <p:cNvPr id="35" name="Shape 33"/>
              <p:cNvSpPr/>
              <p:nvPr/>
            </p:nvSpPr>
            <p:spPr>
              <a:xfrm>
                <a:off x="4206240" y="3230880"/>
                <a:ext cx="609600" cy="609600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36" name="Text 34"/>
              <p:cNvSpPr/>
              <p:nvPr/>
            </p:nvSpPr>
            <p:spPr>
              <a:xfrm>
                <a:off x="4206240" y="3230880"/>
                <a:ext cx="609600" cy="609600"/>
              </a:xfrm>
              <a:prstGeom prst="ellipse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667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7</a:t>
                </a:r>
                <a:endParaRPr lang="en-US" sz="26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1D47688-F976-E87A-4F54-215978DF78F0}"/>
                </a:ext>
              </a:extLst>
            </p:cNvPr>
            <p:cNvGrpSpPr/>
            <p:nvPr/>
          </p:nvGrpSpPr>
          <p:grpSpPr>
            <a:xfrm>
              <a:off x="4397970" y="3769491"/>
              <a:ext cx="1463040" cy="1097280"/>
              <a:chOff x="3779520" y="3108960"/>
              <a:chExt cx="1463040" cy="1097280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3779520" y="3108960"/>
                <a:ext cx="1463040" cy="1097280"/>
              </a:xfrm>
              <a:prstGeom prst="roundRect">
                <a:avLst/>
              </a:prstGeom>
              <a:solidFill>
                <a:srgbClr val="F2F2F2"/>
              </a:solidFill>
              <a:ln w="25400">
                <a:solidFill>
                  <a:srgbClr val="1C7293"/>
                </a:solidFill>
                <a:prstDash val="solid"/>
              </a:ln>
            </p:spPr>
          </p:sp>
          <p:sp>
            <p:nvSpPr>
              <p:cNvPr id="37" name="Text 35"/>
              <p:cNvSpPr/>
              <p:nvPr/>
            </p:nvSpPr>
            <p:spPr>
              <a:xfrm>
                <a:off x="3786403" y="3276600"/>
                <a:ext cx="134112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467" b="1" dirty="0">
                    <a:solidFill>
                      <a:srgbClr val="2129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Feature Engineering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3840480" y="3738224"/>
                <a:ext cx="134112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219170"/>
                <a:r>
                  <a:rPr lang="en-US" sz="1067" dirty="0">
                    <a:solidFill>
                      <a:srgbClr val="4040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Created Revenue = Quantity × UnitPrice</a:t>
                </a:r>
                <a:endParaRPr lang="en-US" sz="10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D692CC7-D9C0-1D76-1DA6-DDDA604D0543}"/>
                </a:ext>
              </a:extLst>
            </p:cNvPr>
            <p:cNvGrpSpPr/>
            <p:nvPr/>
          </p:nvGrpSpPr>
          <p:grpSpPr>
            <a:xfrm>
              <a:off x="739486" y="3721439"/>
              <a:ext cx="1995457" cy="1220282"/>
              <a:chOff x="789025" y="3623558"/>
              <a:chExt cx="1995457" cy="1220282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807215" y="3623558"/>
                <a:ext cx="1977267" cy="1220282"/>
              </a:xfrm>
              <a:prstGeom prst="roundRect">
                <a:avLst/>
              </a:prstGeom>
              <a:solidFill>
                <a:srgbClr val="02C299"/>
              </a:solidFill>
              <a:ln/>
            </p:spPr>
          </p:sp>
          <p:sp>
            <p:nvSpPr>
              <p:cNvPr id="40" name="Text 38"/>
              <p:cNvSpPr/>
              <p:nvPr/>
            </p:nvSpPr>
            <p:spPr>
              <a:xfrm>
                <a:off x="789025" y="3672924"/>
                <a:ext cx="19507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2133" b="1" dirty="0"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RESULT</a:t>
                </a:r>
                <a:endParaRPr lang="en-US" sz="2133" dirty="0">
                  <a:latin typeface="Calibri" panose="020F0502020204030204"/>
                </a:endParaRPr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867198" y="4003772"/>
                <a:ext cx="1796353" cy="8137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14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Clean, reliable</a:t>
                </a:r>
                <a:r>
                  <a:rPr lang="en-US" sz="1400" b="1" dirty="0">
                    <a:latin typeface="Calibri" panose="020F0502020204030204"/>
                  </a:rPr>
                  <a:t> </a:t>
                </a:r>
                <a:r>
                  <a:rPr lang="en-US" sz="14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dataset ready</a:t>
                </a:r>
                <a:r>
                  <a:rPr lang="en-US" sz="1400" b="1" dirty="0">
                    <a:latin typeface="Calibri" panose="020F0502020204030204"/>
                  </a:rPr>
                  <a:t> </a:t>
                </a:r>
                <a:r>
                  <a:rPr lang="en-US" sz="12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</a:t>
                </a:r>
                <a:r>
                  <a:rPr lang="en-US" sz="14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RFM</a:t>
                </a:r>
                <a:r>
                  <a:rPr lang="en-US" sz="1400" b="1" dirty="0">
                    <a:latin typeface="Calibri" panose="020F0502020204030204"/>
                  </a:rPr>
                  <a:t> </a:t>
                </a:r>
                <a:r>
                  <a:rPr lang="en-US" sz="14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analysis</a:t>
                </a:r>
                <a:endParaRPr lang="en-US" sz="1400" b="1" dirty="0">
                  <a:latin typeface="Calibri" panose="020F0502020204030204"/>
                </a:endParaRPr>
              </a:p>
            </p:txBody>
          </p:sp>
        </p:grp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00AA115E-05FC-E0FE-DF0F-96FE0D18ECDA}"/>
                </a:ext>
              </a:extLst>
            </p:cNvPr>
            <p:cNvSpPr/>
            <p:nvPr/>
          </p:nvSpPr>
          <p:spPr>
            <a:xfrm>
              <a:off x="2882820" y="2196436"/>
              <a:ext cx="573221" cy="405787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A6CD52AD-14DB-9005-41F5-BEBC16B26628}"/>
                </a:ext>
              </a:extLst>
            </p:cNvPr>
            <p:cNvSpPr/>
            <p:nvPr/>
          </p:nvSpPr>
          <p:spPr>
            <a:xfrm>
              <a:off x="5973098" y="2206250"/>
              <a:ext cx="573221" cy="405787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E3D62CF9-DC73-5C04-1453-3AE6C370A061}"/>
                </a:ext>
              </a:extLst>
            </p:cNvPr>
            <p:cNvSpPr/>
            <p:nvPr/>
          </p:nvSpPr>
          <p:spPr>
            <a:xfrm>
              <a:off x="9054034" y="2206250"/>
              <a:ext cx="573221" cy="405787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Arrow: Down 62">
              <a:extLst>
                <a:ext uri="{FF2B5EF4-FFF2-40B4-BE49-F238E27FC236}">
                  <a16:creationId xmlns:a16="http://schemas.microsoft.com/office/drawing/2014/main" id="{CFA74C54-A86D-E4BF-006B-678564BDE46D}"/>
                </a:ext>
              </a:extLst>
            </p:cNvPr>
            <p:cNvSpPr/>
            <p:nvPr/>
          </p:nvSpPr>
          <p:spPr>
            <a:xfrm>
              <a:off x="10953613" y="3125752"/>
              <a:ext cx="540297" cy="461527"/>
            </a:xfrm>
            <a:prstGeom prst="down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Arrow: Left 63">
              <a:extLst>
                <a:ext uri="{FF2B5EF4-FFF2-40B4-BE49-F238E27FC236}">
                  <a16:creationId xmlns:a16="http://schemas.microsoft.com/office/drawing/2014/main" id="{26A0FBF0-1D43-D730-ED64-7A2ED7D48AF8}"/>
                </a:ext>
              </a:extLst>
            </p:cNvPr>
            <p:cNvSpPr/>
            <p:nvPr/>
          </p:nvSpPr>
          <p:spPr>
            <a:xfrm>
              <a:off x="9054034" y="4082103"/>
              <a:ext cx="573221" cy="405787"/>
            </a:xfrm>
            <a:prstGeom prst="lef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Arrow: Left 64">
              <a:extLst>
                <a:ext uri="{FF2B5EF4-FFF2-40B4-BE49-F238E27FC236}">
                  <a16:creationId xmlns:a16="http://schemas.microsoft.com/office/drawing/2014/main" id="{5BB754AF-34A3-062B-7988-099E799F91AD}"/>
                </a:ext>
              </a:extLst>
            </p:cNvPr>
            <p:cNvSpPr/>
            <p:nvPr/>
          </p:nvSpPr>
          <p:spPr>
            <a:xfrm>
              <a:off x="5973097" y="4162039"/>
              <a:ext cx="573221" cy="405787"/>
            </a:xfrm>
            <a:prstGeom prst="lef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Arrow: Left 65">
              <a:extLst>
                <a:ext uri="{FF2B5EF4-FFF2-40B4-BE49-F238E27FC236}">
                  <a16:creationId xmlns:a16="http://schemas.microsoft.com/office/drawing/2014/main" id="{E1E23F88-3EEC-ABFE-D056-8D4858AFD4A2}"/>
                </a:ext>
              </a:extLst>
            </p:cNvPr>
            <p:cNvSpPr/>
            <p:nvPr/>
          </p:nvSpPr>
          <p:spPr>
            <a:xfrm>
              <a:off x="2873837" y="4129411"/>
              <a:ext cx="573221" cy="405787"/>
            </a:xfrm>
            <a:prstGeom prst="lef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6941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Revenue Distribution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2017" y="1408248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Revenue Distribution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1F1917-4DC6-2C60-712F-B96B03528B7C}"/>
              </a:ext>
            </a:extLst>
          </p:cNvPr>
          <p:cNvGrpSpPr/>
          <p:nvPr/>
        </p:nvGrpSpPr>
        <p:grpSpPr>
          <a:xfrm>
            <a:off x="402017" y="5138338"/>
            <a:ext cx="4998720" cy="1338667"/>
            <a:chOff x="792480" y="4918340"/>
            <a:chExt cx="4998720" cy="1432314"/>
          </a:xfrm>
        </p:grpSpPr>
        <p:sp>
          <p:nvSpPr>
            <p:cNvPr id="13" name="Shape 11"/>
            <p:cNvSpPr/>
            <p:nvPr/>
          </p:nvSpPr>
          <p:spPr>
            <a:xfrm>
              <a:off x="792480" y="4918340"/>
              <a:ext cx="4316361" cy="1432314"/>
            </a:xfrm>
            <a:prstGeom prst="rect">
              <a:avLst/>
            </a:prstGeom>
            <a:solidFill>
              <a:srgbClr val="FFF8E1"/>
            </a:solidFill>
            <a:ln w="25400">
              <a:solidFill>
                <a:srgbClr val="02C39A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92480" y="5009049"/>
              <a:ext cx="4998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Key Insight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72489" y="5496729"/>
              <a:ext cx="4156342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UK dominates revenue (82%), confirming strong domestic market dependence. Secondary markets offer growth potential.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Text 30"/>
          <p:cNvSpPr/>
          <p:nvPr/>
        </p:nvSpPr>
        <p:spPr>
          <a:xfrm>
            <a:off x="5721402" y="6111245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Oct-Nov (festive season), sharp drop in Dec'11 (incomplete data)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0BE6B1E-E430-49CC-12BC-04122658B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272" y="1592827"/>
            <a:ext cx="6836380" cy="4396498"/>
          </a:xfrm>
          <a:prstGeom prst="rect">
            <a:avLst/>
          </a:prstGeom>
        </p:spPr>
      </p:pic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912C05F0-B900-B4E2-8A4B-0B74AC5ED5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939768"/>
              </p:ext>
            </p:extLst>
          </p:nvPr>
        </p:nvGraphicFramePr>
        <p:xfrm>
          <a:off x="213348" y="1819363"/>
          <a:ext cx="4481053" cy="3219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76267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4800" b="1" u="sng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2655" y="1059691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Purchase Frequency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9A11BC9-2734-1659-7F34-B04EC313D97A}"/>
              </a:ext>
            </a:extLst>
          </p:cNvPr>
          <p:cNvGrpSpPr/>
          <p:nvPr/>
        </p:nvGrpSpPr>
        <p:grpSpPr>
          <a:xfrm>
            <a:off x="470977" y="1433368"/>
            <a:ext cx="3452093" cy="1744882"/>
            <a:chOff x="609600" y="2255520"/>
            <a:chExt cx="5486400" cy="2389632"/>
          </a:xfrm>
        </p:grpSpPr>
        <p:sp>
          <p:nvSpPr>
            <p:cNvPr id="5" name="Shape 3"/>
            <p:cNvSpPr/>
            <p:nvPr/>
          </p:nvSpPr>
          <p:spPr>
            <a:xfrm>
              <a:off x="609600" y="2255520"/>
              <a:ext cx="5486400" cy="426720"/>
            </a:xfrm>
            <a:prstGeom prst="rect">
              <a:avLst/>
            </a:prstGeom>
            <a:solidFill>
              <a:srgbClr val="065A8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09600" y="2255520"/>
              <a:ext cx="2743200" cy="426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4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ID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352800" y="2255520"/>
              <a:ext cx="2743200" cy="426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4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Purchases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09600" y="2718816"/>
              <a:ext cx="5486400" cy="365760"/>
            </a:xfrm>
            <a:prstGeom prst="rect">
              <a:avLst/>
            </a:prstGeom>
            <a:solidFill>
              <a:srgbClr val="F2F2F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09600" y="2718816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12748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352800" y="2718816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209</a:t>
              </a:r>
              <a:endParaRPr lang="en-US" sz="1333" dirty="0">
                <a:latin typeface="Calibri" panose="020F050202020403020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09600" y="3108960"/>
              <a:ext cx="5486400" cy="36576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09600" y="310896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14911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352800" y="310896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</a:t>
              </a:r>
              <a:endParaRPr lang="en-US" sz="1333" dirty="0">
                <a:latin typeface="Calibri" panose="020F0502020204030204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609600" y="3499104"/>
              <a:ext cx="5486400" cy="36576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09600" y="349910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17841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3352800" y="349910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124</a:t>
              </a:r>
              <a:endParaRPr lang="en-US" sz="1333" dirty="0">
                <a:latin typeface="Calibri" panose="020F050202020403020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09600" y="3889248"/>
              <a:ext cx="5486400" cy="36576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09600" y="3889248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13089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352800" y="3889248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</a:t>
              </a:r>
              <a:endParaRPr lang="en-US" sz="1333" dirty="0">
                <a:latin typeface="Calibri" panose="020F0502020204030204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09600" y="4279392"/>
              <a:ext cx="5486400" cy="365760"/>
            </a:xfrm>
            <a:prstGeom prst="rect">
              <a:avLst/>
            </a:prstGeom>
            <a:solidFill>
              <a:srgbClr val="F2F2F2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609600" y="4279392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14606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3352800" y="4279392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</a:t>
              </a:r>
              <a:endParaRPr lang="en-US" sz="1333" dirty="0">
                <a:latin typeface="Calibri" panose="020F0502020204030204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CDCE879-2EDD-C1B4-1B43-13AE75335D4D}"/>
              </a:ext>
            </a:extLst>
          </p:cNvPr>
          <p:cNvGrpSpPr/>
          <p:nvPr/>
        </p:nvGrpSpPr>
        <p:grpSpPr>
          <a:xfrm>
            <a:off x="470976" y="3178869"/>
            <a:ext cx="3452093" cy="500262"/>
            <a:chOff x="4757842" y="5990410"/>
            <a:chExt cx="3967560" cy="765954"/>
          </a:xfrm>
        </p:grpSpPr>
        <p:sp>
          <p:nvSpPr>
            <p:cNvPr id="23" name="Shape 21"/>
            <p:cNvSpPr/>
            <p:nvPr/>
          </p:nvSpPr>
          <p:spPr>
            <a:xfrm>
              <a:off x="4757842" y="5990410"/>
              <a:ext cx="3895516" cy="765954"/>
            </a:xfrm>
            <a:prstGeom prst="rect">
              <a:avLst/>
            </a:prstGeom>
            <a:solidFill>
              <a:srgbClr val="FFF8E1"/>
            </a:solidFill>
            <a:ln w="25400">
              <a:solidFill>
                <a:srgbClr val="02C39A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51492" y="6096000"/>
              <a:ext cx="387391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200" i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Highly skewed distribution: Median = 2 purchases, Maximum = 209 purchases</a:t>
              </a:r>
              <a:endParaRPr lang="en-US" sz="12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014F912E-9A74-A323-B1BF-5114AC321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205" y="1270747"/>
            <a:ext cx="6894138" cy="4611147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BA328F2D-8A1C-EC7C-EF6A-159CC6D9B6E4}"/>
              </a:ext>
            </a:extLst>
          </p:cNvPr>
          <p:cNvGrpSpPr/>
          <p:nvPr/>
        </p:nvGrpSpPr>
        <p:grpSpPr>
          <a:xfrm>
            <a:off x="8972421" y="1771661"/>
            <a:ext cx="2045110" cy="862632"/>
            <a:chOff x="7924800" y="2682240"/>
            <a:chExt cx="3048000" cy="609600"/>
          </a:xfrm>
          <a:solidFill>
            <a:srgbClr val="2E74B4"/>
          </a:solidFill>
        </p:grpSpPr>
        <p:sp>
          <p:nvSpPr>
            <p:cNvPr id="49" name="Shape 47"/>
            <p:cNvSpPr/>
            <p:nvPr/>
          </p:nvSpPr>
          <p:spPr>
            <a:xfrm>
              <a:off x="7924800" y="2682240"/>
              <a:ext cx="3048000" cy="609600"/>
            </a:xfrm>
            <a:prstGeom prst="rect">
              <a:avLst/>
            </a:prstGeom>
            <a:grpFill/>
            <a:ln/>
          </p:spPr>
        </p:sp>
        <p:sp>
          <p:nvSpPr>
            <p:cNvPr id="50" name="Text 48"/>
            <p:cNvSpPr/>
            <p:nvPr/>
          </p:nvSpPr>
          <p:spPr>
            <a:xfrm>
              <a:off x="7924800" y="2743200"/>
              <a:ext cx="3048000" cy="2438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 ≈ 0.55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7924800" y="2987040"/>
              <a:ext cx="3048000" cy="2438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Moderate Positive Correlation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1CE632DC-A631-3BEA-C2BD-20C7BB166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18782"/>
              </p:ext>
            </p:extLst>
          </p:nvPr>
        </p:nvGraphicFramePr>
        <p:xfrm>
          <a:off x="470977" y="4113103"/>
          <a:ext cx="3549443" cy="1835076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866658">
                  <a:extLst>
                    <a:ext uri="{9D8B030D-6E8A-4147-A177-3AD203B41FA5}">
                      <a16:colId xmlns:a16="http://schemas.microsoft.com/office/drawing/2014/main" val="1192336852"/>
                    </a:ext>
                  </a:extLst>
                </a:gridCol>
                <a:gridCol w="1682785">
                  <a:extLst>
                    <a:ext uri="{9D8B030D-6E8A-4147-A177-3AD203B41FA5}">
                      <a16:colId xmlns:a16="http://schemas.microsoft.com/office/drawing/2014/main" val="2991895273"/>
                    </a:ext>
                  </a:extLst>
                </a:gridCol>
              </a:tblGrid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kern="100" dirty="0">
                          <a:effectLst/>
                        </a:rPr>
                        <a:t>Customer ID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Revenue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447698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b="0" kern="100" dirty="0">
                          <a:effectLst/>
                        </a:rPr>
                        <a:t>14646</a:t>
                      </a:r>
                      <a:endParaRPr lang="en-IN" sz="1330" b="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280206.02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28116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b="0" kern="100" dirty="0">
                          <a:effectLst/>
                        </a:rPr>
                        <a:t>18102</a:t>
                      </a:r>
                      <a:endParaRPr lang="en-IN" sz="1330" b="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259657.30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492800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b="0" kern="100" dirty="0">
                          <a:effectLst/>
                        </a:rPr>
                        <a:t>17450</a:t>
                      </a:r>
                      <a:endParaRPr lang="en-IN" sz="1330" b="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194390.79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61462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b="0" kern="100" dirty="0">
                          <a:effectLst/>
                        </a:rPr>
                        <a:t>16446</a:t>
                      </a:r>
                      <a:endParaRPr lang="en-IN" sz="1330" b="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168472.50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255408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330" b="0" kern="100" dirty="0">
                          <a:effectLst/>
                        </a:rPr>
                        <a:t>14911</a:t>
                      </a:r>
                      <a:endParaRPr lang="en-IN" sz="1330" b="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30" kern="100" dirty="0">
                          <a:effectLst/>
                        </a:rPr>
                        <a:t>143711.17</a:t>
                      </a:r>
                      <a:endParaRPr lang="en-IN" sz="133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972914"/>
                  </a:ext>
                </a:extLst>
              </a:tr>
            </a:tbl>
          </a:graphicData>
        </a:graphic>
      </p:graphicFrame>
      <p:sp>
        <p:nvSpPr>
          <p:cNvPr id="59" name="Text 2">
            <a:extLst>
              <a:ext uri="{FF2B5EF4-FFF2-40B4-BE49-F238E27FC236}">
                <a16:creationId xmlns:a16="http://schemas.microsoft.com/office/drawing/2014/main" id="{061E5CC9-2A08-73C2-759F-DC8A36D5727F}"/>
              </a:ext>
            </a:extLst>
          </p:cNvPr>
          <p:cNvSpPr/>
          <p:nvPr/>
        </p:nvSpPr>
        <p:spPr>
          <a:xfrm>
            <a:off x="371901" y="3715730"/>
            <a:ext cx="511471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Monetary Value Distribution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01F2B3E-1D9A-17E2-5501-E917F7EC8D41}"/>
              </a:ext>
            </a:extLst>
          </p:cNvPr>
          <p:cNvGrpSpPr/>
          <p:nvPr/>
        </p:nvGrpSpPr>
        <p:grpSpPr>
          <a:xfrm>
            <a:off x="470977" y="5988783"/>
            <a:ext cx="3549442" cy="500262"/>
            <a:chOff x="4757842" y="5990407"/>
            <a:chExt cx="3967560" cy="765954"/>
          </a:xfrm>
        </p:grpSpPr>
        <p:sp>
          <p:nvSpPr>
            <p:cNvPr id="62" name="Shape 21">
              <a:extLst>
                <a:ext uri="{FF2B5EF4-FFF2-40B4-BE49-F238E27FC236}">
                  <a16:creationId xmlns:a16="http://schemas.microsoft.com/office/drawing/2014/main" id="{C91A9939-72B2-826D-00E3-DAEF7E47D4D4}"/>
                </a:ext>
              </a:extLst>
            </p:cNvPr>
            <p:cNvSpPr/>
            <p:nvPr/>
          </p:nvSpPr>
          <p:spPr>
            <a:xfrm>
              <a:off x="4757842" y="5990407"/>
              <a:ext cx="3895516" cy="765954"/>
            </a:xfrm>
            <a:prstGeom prst="rect">
              <a:avLst/>
            </a:prstGeom>
            <a:solidFill>
              <a:srgbClr val="FFF8E1"/>
            </a:solidFill>
            <a:ln w="254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3" name="Text 22">
              <a:extLst>
                <a:ext uri="{FF2B5EF4-FFF2-40B4-BE49-F238E27FC236}">
                  <a16:creationId xmlns:a16="http://schemas.microsoft.com/office/drawing/2014/main" id="{3F4E9368-51CA-E99A-F9BC-27574EF7BE15}"/>
                </a:ext>
              </a:extLst>
            </p:cNvPr>
            <p:cNvSpPr/>
            <p:nvPr/>
          </p:nvSpPr>
          <p:spPr>
            <a:xfrm>
              <a:off x="4851492" y="6096000"/>
              <a:ext cx="387391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200" i="1" dirty="0">
                  <a:solidFill>
                    <a:prstClr val="black"/>
                  </a:solidFill>
                </a:rPr>
                <a:t>Median </a:t>
              </a:r>
              <a:r>
                <a:rPr lang="en-IN" sz="1200" i="1" dirty="0"/>
                <a:t>≈ £669</a:t>
              </a:r>
              <a:r>
                <a:rPr lang="en-US" sz="1200" i="1" dirty="0">
                  <a:solidFill>
                    <a:prstClr val="black"/>
                  </a:solidFill>
                </a:rPr>
                <a:t> and Maximum </a:t>
              </a:r>
              <a:r>
                <a:rPr lang="en-IN" sz="1200" i="1" dirty="0"/>
                <a:t>≈ £280,206; Extreme revenue concentration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D0BD7C1-EE61-B13B-8004-03AC6722C2EE}"/>
              </a:ext>
            </a:extLst>
          </p:cNvPr>
          <p:cNvSpPr txBox="1"/>
          <p:nvPr/>
        </p:nvSpPr>
        <p:spPr>
          <a:xfrm>
            <a:off x="6533536" y="6092950"/>
            <a:ext cx="4877770" cy="340519"/>
          </a:xfrm>
          <a:prstGeom prst="roundRect">
            <a:avLst/>
          </a:prstGeom>
          <a:solidFill>
            <a:srgbClr val="CCFFCC"/>
          </a:solidFill>
          <a:ln>
            <a:solidFill>
              <a:srgbClr val="065A8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i="1" dirty="0"/>
              <a:t>A small fraction of customers drives disproportionate revenue</a:t>
            </a:r>
            <a:endParaRPr lang="en-IN" sz="1400" b="1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Approach</a:t>
            </a:r>
            <a:endParaRPr lang="en-US" sz="4800" u="sng" dirty="0">
              <a:solidFill>
                <a:srgbClr val="4A4E68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1E4ED0-CE3E-625E-5EAF-D4814A55FB12}"/>
              </a:ext>
            </a:extLst>
          </p:cNvPr>
          <p:cNvGrpSpPr/>
          <p:nvPr/>
        </p:nvGrpSpPr>
        <p:grpSpPr>
          <a:xfrm>
            <a:off x="482000" y="1532992"/>
            <a:ext cx="4434349" cy="2865613"/>
            <a:chOff x="548639" y="1706879"/>
            <a:chExt cx="5486401" cy="4084321"/>
          </a:xfrm>
        </p:grpSpPr>
        <p:sp>
          <p:nvSpPr>
            <p:cNvPr id="4" name="Text 2"/>
            <p:cNvSpPr/>
            <p:nvPr/>
          </p:nvSpPr>
          <p:spPr>
            <a:xfrm>
              <a:off x="548639" y="1706879"/>
              <a:ext cx="5486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065A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RFM Framework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609600" y="2438400"/>
              <a:ext cx="731520" cy="731520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09600" y="243840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524000" y="2499360"/>
              <a:ext cx="4511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Recency</a:t>
              </a:r>
              <a:endParaRPr lang="en-US" sz="21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523999" y="2956651"/>
              <a:ext cx="4511041" cy="3657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Days since last purchase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(Lower = Better engagement)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609600" y="3657600"/>
              <a:ext cx="731520" cy="731520"/>
            </a:xfrm>
            <a:prstGeom prst="ellipse">
              <a:avLst/>
            </a:prstGeom>
            <a:solidFill>
              <a:srgbClr val="1C7293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609600" y="365760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F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524000" y="3718560"/>
              <a:ext cx="4511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</a:t>
              </a:r>
              <a:endParaRPr lang="en-US" sz="21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524000" y="4175852"/>
              <a:ext cx="4511039" cy="3657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Number of transactions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(Higher = More loyal)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609600" y="4876800"/>
              <a:ext cx="731520" cy="73152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09600" y="487680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3733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3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524000" y="4937760"/>
              <a:ext cx="4511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Monetary</a:t>
              </a:r>
              <a:endParaRPr lang="en-US" sz="21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523998" y="5425440"/>
              <a:ext cx="451103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revenue contributed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r>
                <a:rPr lang="en-US" sz="1467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(Higher = More valuable)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5874908" y="5420943"/>
            <a:ext cx="6096983" cy="1167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= 3, and this </a:t>
            </a:r>
            <a:r>
              <a:rPr lang="en-IN" sz="1400" b="1" i="1" dirty="0">
                <a:solidFill>
                  <a:srgbClr val="1C7293"/>
                </a:solidFill>
              </a:rPr>
              <a:t>confirms that three clusters provide an optimal balance between segmentation quality and interpretability.</a:t>
            </a:r>
            <a:endParaRPr lang="en-US" sz="1400" b="1" i="1" dirty="0">
              <a:solidFill>
                <a:srgbClr val="1C7293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5113EF3-837E-48D6-D07D-5507E2EF6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931" y="1532992"/>
            <a:ext cx="6436069" cy="4157776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1DA7907-AF01-9DA5-BF90-B941F97C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15812"/>
              </p:ext>
            </p:extLst>
          </p:nvPr>
        </p:nvGraphicFramePr>
        <p:xfrm>
          <a:off x="609600" y="4628463"/>
          <a:ext cx="3454838" cy="16459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965518">
                  <a:extLst>
                    <a:ext uri="{9D8B030D-6E8A-4147-A177-3AD203B41FA5}">
                      <a16:colId xmlns:a16="http://schemas.microsoft.com/office/drawing/2014/main" val="617966778"/>
                    </a:ext>
                  </a:extLst>
                </a:gridCol>
                <a:gridCol w="707922">
                  <a:extLst>
                    <a:ext uri="{9D8B030D-6E8A-4147-A177-3AD203B41FA5}">
                      <a16:colId xmlns:a16="http://schemas.microsoft.com/office/drawing/2014/main" val="3059861900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283298329"/>
                    </a:ext>
                  </a:extLst>
                </a:gridCol>
                <a:gridCol w="906327">
                  <a:extLst>
                    <a:ext uri="{9D8B030D-6E8A-4147-A177-3AD203B41FA5}">
                      <a16:colId xmlns:a16="http://schemas.microsoft.com/office/drawing/2014/main" val="801950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 err="1">
                          <a:solidFill>
                            <a:schemeClr val="bg1"/>
                          </a:solidFill>
                          <a:effectLst/>
                        </a:rPr>
                        <a:t>CustomerID</a:t>
                      </a:r>
                      <a:endParaRPr lang="en-IN" sz="1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Recency</a:t>
                      </a:r>
                    </a:p>
                  </a:txBody>
                  <a:tcPr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Frequency</a:t>
                      </a:r>
                    </a:p>
                  </a:txBody>
                  <a:tcPr anchor="ctr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</a:rPr>
                        <a:t>Monetary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4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12346.0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326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77183.60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680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12347.0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4310.00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9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12348.0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75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1797.24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25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12349.0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1757.55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763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12350.0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310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334.40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8555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1BCE423-245F-5E1C-338A-3F483A44254D}"/>
              </a:ext>
            </a:extLst>
          </p:cNvPr>
          <p:cNvSpPr txBox="1"/>
          <p:nvPr/>
        </p:nvSpPr>
        <p:spPr>
          <a:xfrm>
            <a:off x="610918" y="6324914"/>
            <a:ext cx="4906408" cy="340519"/>
          </a:xfrm>
          <a:prstGeom prst="round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r>
              <a:rPr lang="en-US" sz="1400" b="1" i="1" dirty="0"/>
              <a:t>RFM converts raw transactions into measurable customer value</a:t>
            </a:r>
            <a:endParaRPr lang="en-IN" sz="1400" b="1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Segments Identified</a:t>
            </a:r>
            <a:endParaRPr lang="en-US" sz="48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0E1EA5-C5A6-A64B-4DD7-16C809D8981C}"/>
              </a:ext>
            </a:extLst>
          </p:cNvPr>
          <p:cNvGrpSpPr/>
          <p:nvPr/>
        </p:nvGrpSpPr>
        <p:grpSpPr>
          <a:xfrm>
            <a:off x="353961" y="1850431"/>
            <a:ext cx="3657600" cy="4023360"/>
            <a:chOff x="609600" y="1809135"/>
            <a:chExt cx="3657600" cy="4023360"/>
          </a:xfrm>
        </p:grpSpPr>
        <p:sp>
          <p:nvSpPr>
            <p:cNvPr id="4" name="Shape 2"/>
            <p:cNvSpPr/>
            <p:nvPr/>
          </p:nvSpPr>
          <p:spPr>
            <a:xfrm>
              <a:off x="609600" y="1809135"/>
              <a:ext cx="3657600" cy="40233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609600" y="1828800"/>
              <a:ext cx="3657600" cy="731520"/>
            </a:xfrm>
            <a:prstGeom prst="rect">
              <a:avLst/>
            </a:prstGeom>
            <a:solidFill>
              <a:srgbClr val="C00000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09600" y="182880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8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At-Risk / Low-Engagement</a:t>
              </a:r>
              <a:endParaRPr lang="en-US" sz="18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853440" y="2743200"/>
              <a:ext cx="3169920" cy="609600"/>
            </a:xfrm>
            <a:prstGeom prst="rect">
              <a:avLst/>
            </a:prstGeom>
            <a:solidFill>
              <a:srgbClr val="F2F2F2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853440" y="280416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21295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1,082 customers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53440" y="304800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25% of total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853440" y="359664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316480" y="359664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E74C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247 days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853440" y="414528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316480" y="414528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E74C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1.58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853440" y="469392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Monetary: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316480" y="469392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E74C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£630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77038" y="5127522"/>
              <a:ext cx="31699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200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 inactive, minimal purchases, low spend. High churn risk.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147161F-CEF5-68E2-7FE5-1E36CAEAA503}"/>
              </a:ext>
            </a:extLst>
          </p:cNvPr>
          <p:cNvGrpSpPr/>
          <p:nvPr/>
        </p:nvGrpSpPr>
        <p:grpSpPr>
          <a:xfrm>
            <a:off x="4267200" y="1795370"/>
            <a:ext cx="3669399" cy="4055315"/>
            <a:chOff x="4511040" y="1828800"/>
            <a:chExt cx="3669399" cy="4055315"/>
          </a:xfrm>
        </p:grpSpPr>
        <p:sp>
          <p:nvSpPr>
            <p:cNvPr id="17" name="Shape 15"/>
            <p:cNvSpPr/>
            <p:nvPr/>
          </p:nvSpPr>
          <p:spPr>
            <a:xfrm>
              <a:off x="4522839" y="1860755"/>
              <a:ext cx="3657600" cy="40233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C7293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511040" y="1828800"/>
              <a:ext cx="3657600" cy="731520"/>
            </a:xfrm>
            <a:prstGeom prst="rect">
              <a:avLst/>
            </a:prstGeom>
            <a:solidFill>
              <a:srgbClr val="1C7293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11040" y="182880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8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👥 Regular / Core Revenue</a:t>
              </a:r>
              <a:endParaRPr lang="en-US" sz="18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2743200"/>
              <a:ext cx="3169920" cy="609600"/>
            </a:xfrm>
            <a:prstGeom prst="rect">
              <a:avLst/>
            </a:prstGeom>
            <a:solidFill>
              <a:srgbClr val="F2F2F2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4754880" y="280416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21295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3,230 customers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54880" y="304800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74.5% of total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754880" y="359664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217920" y="359664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1C72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 days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4754880" y="414528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217920" y="414528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1C72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4.67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754880" y="469392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Monetary: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217920" y="469392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1C72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£1,850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754880" y="5184549"/>
              <a:ext cx="31699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200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Moderate activity, consistent buying, stable revenue. Business backbone.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35F971E-D9BA-FA02-C236-6BC24A62FF76}"/>
              </a:ext>
            </a:extLst>
          </p:cNvPr>
          <p:cNvGrpSpPr/>
          <p:nvPr/>
        </p:nvGrpSpPr>
        <p:grpSpPr>
          <a:xfrm>
            <a:off x="8156841" y="1830766"/>
            <a:ext cx="3657600" cy="4023360"/>
            <a:chOff x="8412480" y="1828800"/>
            <a:chExt cx="3657600" cy="4023360"/>
          </a:xfrm>
        </p:grpSpPr>
        <p:sp>
          <p:nvSpPr>
            <p:cNvPr id="30" name="Shape 28"/>
            <p:cNvSpPr/>
            <p:nvPr/>
          </p:nvSpPr>
          <p:spPr>
            <a:xfrm>
              <a:off x="8412480" y="1828800"/>
              <a:ext cx="3657600" cy="40233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2C39A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8412480" y="1828800"/>
              <a:ext cx="3657600" cy="731520"/>
            </a:xfrm>
            <a:prstGeom prst="rect">
              <a:avLst/>
            </a:prstGeom>
            <a:solidFill>
              <a:srgbClr val="02C39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8412480" y="182880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8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⭐ VIP / Champion</a:t>
              </a:r>
              <a:endParaRPr lang="en-US" sz="18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8656320" y="2743200"/>
              <a:ext cx="3169920" cy="609600"/>
            </a:xfrm>
            <a:prstGeom prst="rect">
              <a:avLst/>
            </a:prstGeom>
            <a:solidFill>
              <a:srgbClr val="F2F2F2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8656320" y="280416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21295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26 customers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656320" y="3048000"/>
              <a:ext cx="316992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0.6% of total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8656320" y="359664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10119360" y="359664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F39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 days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8656320" y="414528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10119360" y="414528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F39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66.42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8656320" y="469392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b="1" dirty="0">
                  <a:solidFill>
                    <a:srgbClr val="2129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Monetary: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0119360" y="4693920"/>
              <a:ext cx="170688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defTabSz="1219170"/>
              <a:r>
                <a:rPr lang="en-US" sz="1333" dirty="0">
                  <a:solidFill>
                    <a:srgbClr val="F39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£85,826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8701548" y="5161936"/>
              <a:ext cx="31699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200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Very recent, extremely high frequency &amp; spend. Strategic priority.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923" y="3535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4800" b="1" u="sng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4800" u="sng" dirty="0">
              <a:solidFill>
                <a:srgbClr val="002060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A6A047-4D47-927B-E441-D921CC768352}"/>
              </a:ext>
            </a:extLst>
          </p:cNvPr>
          <p:cNvGrpSpPr/>
          <p:nvPr/>
        </p:nvGrpSpPr>
        <p:grpSpPr>
          <a:xfrm>
            <a:off x="1356852" y="1461603"/>
            <a:ext cx="5584723" cy="4976853"/>
            <a:chOff x="609600" y="1423947"/>
            <a:chExt cx="5584723" cy="497685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1FD9C09-ECC4-83C6-0520-6CBB9776BFF5}"/>
                </a:ext>
              </a:extLst>
            </p:cNvPr>
            <p:cNvGrpSpPr/>
            <p:nvPr/>
          </p:nvGrpSpPr>
          <p:grpSpPr>
            <a:xfrm>
              <a:off x="609600" y="1423947"/>
              <a:ext cx="5574890" cy="1498436"/>
              <a:chOff x="609600" y="1772672"/>
              <a:chExt cx="10972800" cy="1219200"/>
            </a:xfrm>
            <a:solidFill>
              <a:srgbClr val="002060"/>
            </a:solidFill>
          </p:grpSpPr>
          <p:sp>
            <p:nvSpPr>
              <p:cNvPr id="3" name="Shape 1"/>
              <p:cNvSpPr/>
              <p:nvPr/>
            </p:nvSpPr>
            <p:spPr>
              <a:xfrm>
                <a:off x="609600" y="1772672"/>
                <a:ext cx="10972800" cy="1219200"/>
              </a:xfrm>
              <a:prstGeom prst="roundRect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  <a:prstDash val="solid"/>
              </a:ln>
            </p:spPr>
          </p:sp>
          <p:sp>
            <p:nvSpPr>
              <p:cNvPr id="4" name="Text 2"/>
              <p:cNvSpPr/>
              <p:nvPr/>
            </p:nvSpPr>
            <p:spPr>
              <a:xfrm>
                <a:off x="1089539" y="2052027"/>
                <a:ext cx="609600" cy="609600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wrap="square" rtlCol="0" anchor="ctr"/>
              <a:lstStyle/>
              <a:p>
                <a:pPr algn="ctr" defTabSz="1219170"/>
                <a:r>
                  <a:rPr lang="en-US" sz="3200" dirty="0">
                    <a:solidFill>
                      <a:srgbClr val="000000"/>
                    </a:solidFill>
                    <a:latin typeface="Calibri" panose="020F0502020204030204"/>
                  </a:rPr>
                  <a:t>🎯</a:t>
                </a:r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2006151" y="1812493"/>
                <a:ext cx="4770922" cy="365760"/>
              </a:xfrm>
              <a:prstGeom prst="roundRect">
                <a:avLst/>
              </a:prstGeom>
              <a:solidFill>
                <a:srgbClr val="C00000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2133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At-Risk Customers</a:t>
                </a:r>
                <a:endParaRPr lang="en-US" sz="2133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1900403" y="2218073"/>
                <a:ext cx="8391193" cy="609600"/>
              </a:xfrm>
              <a:prstGeom prst="roundRect">
                <a:avLst/>
              </a:prstGeom>
              <a:solidFill>
                <a:srgbClr val="C00000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Low-cost reactivation campaigns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Automated remarketing emails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Limited-time discount offers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Monitor response before investing more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07E14D9-128F-AA5C-0256-E63D681AB587}"/>
                </a:ext>
              </a:extLst>
            </p:cNvPr>
            <p:cNvGrpSpPr/>
            <p:nvPr/>
          </p:nvGrpSpPr>
          <p:grpSpPr>
            <a:xfrm>
              <a:off x="609600" y="3090318"/>
              <a:ext cx="5574890" cy="1610525"/>
              <a:chOff x="609600" y="3156346"/>
              <a:chExt cx="10972800" cy="1219200"/>
            </a:xfrm>
            <a:solidFill>
              <a:srgbClr val="002060"/>
            </a:solidFill>
          </p:grpSpPr>
          <p:sp>
            <p:nvSpPr>
              <p:cNvPr id="7" name="Shape 5"/>
              <p:cNvSpPr/>
              <p:nvPr/>
            </p:nvSpPr>
            <p:spPr>
              <a:xfrm>
                <a:off x="609600" y="3156346"/>
                <a:ext cx="10972800" cy="1219200"/>
              </a:xfrm>
              <a:prstGeom prst="roundRect">
                <a:avLst/>
              </a:prstGeom>
              <a:solidFill>
                <a:srgbClr val="065A82"/>
              </a:solidFill>
              <a:ln w="25400">
                <a:solidFill>
                  <a:srgbClr val="065A82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1089539" y="3484358"/>
                <a:ext cx="609600" cy="609600"/>
              </a:xfrm>
              <a:prstGeom prst="roundRect">
                <a:avLst/>
              </a:prstGeom>
              <a:solidFill>
                <a:srgbClr val="065A82"/>
              </a:solidFill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3200" dirty="0">
                    <a:solidFill>
                      <a:srgbClr val="000000"/>
                    </a:solidFill>
                    <a:latin typeface="Calibri" panose="020F0502020204030204"/>
                  </a:rPr>
                  <a:t>💎</a:t>
                </a:r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900403" y="3201953"/>
                <a:ext cx="4617479" cy="365760"/>
              </a:xfrm>
              <a:prstGeom prst="roundRect">
                <a:avLst/>
              </a:prstGeom>
              <a:solidFill>
                <a:srgbClr val="065A82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2133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Regular Customers</a:t>
                </a:r>
                <a:endParaRPr lang="en-US" sz="2133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900403" y="3603961"/>
                <a:ext cx="7965440" cy="609600"/>
              </a:xfrm>
              <a:prstGeom prst="roundRect">
                <a:avLst/>
              </a:prstGeom>
              <a:solidFill>
                <a:srgbClr val="065A82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Structured loyalty programs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</a:t>
                </a:r>
                <a:r>
                  <a:rPr lang="en-US" sz="1467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Personalised</a:t>
                </a:r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product recommendations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Cross-selling &amp; upselling strategies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Periodic promotional incentives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2B56265-A616-3E92-4FC9-CEC53F2C13A7}"/>
                </a:ext>
              </a:extLst>
            </p:cNvPr>
            <p:cNvGrpSpPr/>
            <p:nvPr/>
          </p:nvGrpSpPr>
          <p:grpSpPr>
            <a:xfrm>
              <a:off x="619433" y="4868778"/>
              <a:ext cx="5574890" cy="1532022"/>
              <a:chOff x="609599" y="4572000"/>
              <a:chExt cx="10972799" cy="121920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09599" y="4572000"/>
                <a:ext cx="10972799" cy="1219200"/>
              </a:xfrm>
              <a:prstGeom prst="roundRect">
                <a:avLst/>
              </a:prstGeom>
              <a:solidFill>
                <a:srgbClr val="02C39A"/>
              </a:solidFill>
              <a:ln w="25400">
                <a:solidFill>
                  <a:srgbClr val="02C39A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1082765" y="4876800"/>
                <a:ext cx="609600" cy="609600"/>
              </a:xfrm>
              <a:prstGeom prst="roundRect">
                <a:avLst/>
              </a:prstGeom>
              <a:solidFill>
                <a:srgbClr val="02C39A"/>
              </a:solidFill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3200" dirty="0">
                    <a:solidFill>
                      <a:srgbClr val="000000"/>
                    </a:solidFill>
                    <a:latin typeface="Calibri" panose="020F0502020204030204"/>
                  </a:rPr>
                  <a:t>👑</a:t>
                </a:r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986796" y="4609840"/>
                <a:ext cx="4617479" cy="365760"/>
              </a:xfrm>
              <a:prstGeom prst="roundRect">
                <a:avLst/>
              </a:prstGeom>
              <a:solidFill>
                <a:srgbClr val="02C39A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2133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VIP Customers</a:t>
                </a:r>
                <a:endParaRPr lang="en-US" sz="2133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900403" y="5023104"/>
                <a:ext cx="9316239" cy="609600"/>
              </a:xfrm>
              <a:prstGeom prst="roundRect">
                <a:avLst/>
              </a:prstGeom>
              <a:solidFill>
                <a:srgbClr val="02C39A"/>
              </a:solidFill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Exclusive product previews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Premium loyalty benefits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Dedicated relationship management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1219170"/>
                <a:r>
                  <a:rPr lang="en-US" sz="1467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Priority service &amp; early access</a:t>
                </a:r>
                <a:endParaRPr lang="en-US" sz="1467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7262076-A944-977B-DF22-2F23ECEBF191}"/>
              </a:ext>
            </a:extLst>
          </p:cNvPr>
          <p:cNvSpPr txBox="1"/>
          <p:nvPr/>
        </p:nvSpPr>
        <p:spPr>
          <a:xfrm>
            <a:off x="7651113" y="1461603"/>
            <a:ext cx="3003755" cy="4078545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02C39A"/>
            </a:solidFill>
          </a:ln>
        </p:spPr>
        <p:txBody>
          <a:bodyPr wrap="square">
            <a:spAutoFit/>
          </a:bodyPr>
          <a:lstStyle/>
          <a:p>
            <a:pPr defTabSz="1219170"/>
            <a:r>
              <a:rPr lang="en-US" sz="2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</a:t>
            </a:r>
          </a:p>
          <a:p>
            <a:pPr marL="342900" indent="-342900" defTabSz="1219170"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Improved Marketing ROI</a:t>
            </a:r>
          </a:p>
          <a:p>
            <a:pPr marL="342900" indent="-342900" defTabSz="1219170"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Retention </a:t>
            </a:r>
          </a:p>
          <a:p>
            <a:pPr marL="342900" indent="-342900" defTabSz="1219170"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</a:p>
          <a:p>
            <a:pPr marL="342900" indent="-342900" defTabSz="1219170"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Revenue Growth</a:t>
            </a:r>
            <a:endParaRPr lang="en-US" sz="2400" i="1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691390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322</TotalTime>
  <Words>736</Words>
  <Application>Microsoft Office PowerPoint</Application>
  <PresentationFormat>Widescreen</PresentationFormat>
  <Paragraphs>214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Gill Sans MT</vt:lpstr>
      <vt:lpstr>Wingdings</vt:lpstr>
      <vt:lpstr>Parcel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ADRIJA SARKAR</dc:creator>
  <cp:lastModifiedBy>ADRIJA SARKAR</cp:lastModifiedBy>
  <cp:revision>27</cp:revision>
  <dcterms:created xsi:type="dcterms:W3CDTF">2026-04-19T18:19:14Z</dcterms:created>
  <dcterms:modified xsi:type="dcterms:W3CDTF">2026-04-20T06:25:59Z</dcterms:modified>
</cp:coreProperties>
</file>